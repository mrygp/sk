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500" kern="0" dirty="0">
                <a:solidFill>
                  <a:srgbClr val="8A6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三湘问道 · 核心模型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 AlphaFold 模型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输入一个想法  →  推演出近乎最正确的行进路径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2700">
            <a:solidFill>
              <a:srgbClr val="8A6F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借鉴 AlphaFold 解析蛋白质的四大机制，构建商业判断系统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926080" y="4206240"/>
            <a:ext cx="3291840" cy="457200"/>
          </a:xfrm>
          <a:prstGeom prst="rect">
            <a:avLst/>
          </a:prstGeom>
          <a:solidFill>
            <a:srgbClr val="1A1A28"/>
          </a:solidFill>
          <a:ln w="12700">
            <a:solidFill>
              <a:srgbClr val="8A6F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4206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2024年诺贝尔化学奖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困境：为什么科研成果无法转化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solidFill>
            <a:srgbClr val="1E0A0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普通科研工作者的困境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023360" cy="502920"/>
          </a:xfrm>
          <a:prstGeom prst="rect">
            <a:avLst/>
          </a:prstGeom>
          <a:solidFill>
            <a:srgbClr val="14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科研路径基于行业惯性，而非真实需求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94560"/>
            <a:ext cx="4023360" cy="502920"/>
          </a:xfrm>
          <a:prstGeom prst="rect">
            <a:avLst/>
          </a:prstGeom>
          <a:solidFill>
            <a:srgbClr val="14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看到的竞品，都是认知框架内的竞品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4023360" cy="502920"/>
          </a:xfrm>
          <a:prstGeom prst="rect">
            <a:avLst/>
          </a:prstGeom>
          <a:solidFill>
            <a:srgbClr val="14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真正的威胁，来自从未重视的维度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4023360" cy="502920"/>
          </a:xfrm>
          <a:prstGeom prst="rect">
            <a:avLst/>
          </a:prstGeom>
          <a:solidFill>
            <a:srgbClr val="14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越专业，越被专业本身框住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solidFill>
            <a:srgbClr val="0A1A0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AlphaFold 的反面证明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600200"/>
            <a:ext cx="4023360" cy="502920"/>
          </a:xfrm>
          <a:prstGeom prst="rect">
            <a:avLst/>
          </a:prstGeom>
          <a:solidFill>
            <a:srgbClr val="081408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6002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生物学家困了50年，AI工程师几年破解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023360" cy="502920"/>
          </a:xfrm>
          <a:prstGeom prst="rect">
            <a:avLst/>
          </a:prstGeom>
          <a:solidFill>
            <a:srgbClr val="081408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1945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外行看到了内行认知框架外的解法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788920"/>
            <a:ext cx="4023360" cy="502920"/>
          </a:xfrm>
          <a:prstGeom prst="rect">
            <a:avLst/>
          </a:prstGeom>
          <a:solidFill>
            <a:srgbClr val="081408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威胁来自游戏AI领域，不是生物学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4023360" cy="502920"/>
          </a:xfrm>
          <a:prstGeom prst="rect">
            <a:avLst/>
          </a:prstGeom>
          <a:solidFill>
            <a:srgbClr val="081408"/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3832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A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正因不在这个维度，才炸开了墙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A121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真正的解决方案，往往来自于问题本身所在维度之外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商业AlphaFold模型：四步推演系统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1A1828"/>
          </a:solidFill>
          <a:ln w="19050">
            <a:solidFill>
              <a:srgbClr val="8A6F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输入：一个产品想法 / 根本需求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0" cy="274320"/>
          </a:xfrm>
          <a:prstGeom prst="line">
            <a:avLst/>
          </a:prstGeom>
          <a:noFill/>
          <a:ln w="25400">
            <a:solidFill>
              <a:srgbClr val="8A6F3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645920"/>
            <a:ext cx="2011680" cy="1645920"/>
          </a:xfrm>
          <a:prstGeom prst="rect">
            <a:avLst/>
          </a:prstGeom>
          <a:solidFill>
            <a:srgbClr val="0D0A18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1752" y="1755648"/>
            <a:ext cx="411480" cy="4114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9B72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读历史·找共同进化规律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对应AlphaFold：多序列比对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2011680" cy="1645920"/>
          </a:xfrm>
          <a:prstGeom prst="rect">
            <a:avLst/>
          </a:prstGeom>
          <a:solidFill>
            <a:srgbClr val="0A0E18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96312" y="1755648"/>
            <a:ext cx="411480" cy="4114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1460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全网状对话·变量互相审问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对应AlphaFold：注意力机制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645920"/>
            <a:ext cx="2011680" cy="1645920"/>
          </a:xfrm>
          <a:prstGeom prst="rect">
            <a:avLst/>
          </a:prstGeom>
          <a:solidFill>
            <a:srgbClr val="110E0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90872" y="1755648"/>
            <a:ext cx="411480" cy="4114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铁律过滤·排除死路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对应AlphaFold：物理化学约束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645920"/>
            <a:ext cx="2011680" cy="1645920"/>
          </a:xfrm>
          <a:prstGeom prst="rect">
            <a:avLst/>
          </a:prstGeom>
          <a:solidFill>
            <a:srgbClr val="110808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5432" y="1755648"/>
            <a:ext cx="411480" cy="411480"/>
          </a:xfrm>
          <a:prstGeom prst="ellipse">
            <a:avLst/>
          </a:prstGeom>
          <a:solidFill>
            <a:srgbClr val="0A0A0F"/>
          </a:solidFill>
          <a:ln w="19050">
            <a:solidFill>
              <a:srgbClr val="E05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17556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2240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跨维度攻击·循环迭代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对应AlphaFold：自我否定循环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40280" y="2468880"/>
            <a:ext cx="182880" cy="0"/>
          </a:xfrm>
          <a:prstGeom prst="line">
            <a:avLst/>
          </a:prstGeom>
          <a:noFill/>
          <a:ln w="25400">
            <a:solidFill>
              <a:srgbClr val="8A6F3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2468880"/>
            <a:ext cx="182880" cy="0"/>
          </a:xfrm>
          <a:prstGeom prst="line">
            <a:avLst/>
          </a:prstGeom>
          <a:noFill/>
          <a:ln w="25400">
            <a:solidFill>
              <a:srgbClr val="8A6F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2468880"/>
            <a:ext cx="182880" cy="0"/>
          </a:xfrm>
          <a:prstGeom prst="line">
            <a:avLst/>
          </a:prstGeom>
          <a:noFill/>
          <a:ln w="25400">
            <a:solidFill>
              <a:srgbClr val="8A6F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429000"/>
            <a:ext cx="8686800" cy="457200"/>
          </a:xfrm>
          <a:prstGeom prst="rect">
            <a:avLst/>
          </a:prstGeom>
          <a:solidFill>
            <a:srgbClr val="0F0F0F"/>
          </a:solidFill>
          <a:ln w="12700">
            <a:solidFill>
              <a:srgbClr val="8A6F3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2860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循环迭代：04步修正结果 → 重回02步 → 直到路径能抵抗所有跨维度攻击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3886200"/>
            <a:ext cx="0" cy="228600"/>
          </a:xfrm>
          <a:prstGeom prst="line">
            <a:avLst/>
          </a:prstGeom>
          <a:noFill/>
          <a:ln w="25400">
            <a:solidFill>
              <a:srgbClr val="4ECD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0" y="4114800"/>
            <a:ext cx="4572000" cy="685800"/>
          </a:xfrm>
          <a:prstGeom prst="rect">
            <a:avLst/>
          </a:prstGeom>
          <a:solidFill>
            <a:srgbClr val="0A1412"/>
          </a:solidFill>
          <a:ln w="2540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28600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输出：近乎最正确的行进路径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640080" cy="640080"/>
          </a:xfrm>
          <a:prstGeom prst="ellipse">
            <a:avLst/>
          </a:prstGeom>
          <a:solidFill>
            <a:srgbClr val="0D0A18"/>
          </a:solidFill>
          <a:ln w="25400">
            <a:solidFill>
              <a:srgbClr val="9B7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读历史·找共同进化规律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AlphaFold对应机制：多序列比对 · 进化草稿纸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51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核心动作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023360" cy="777240"/>
          </a:xfrm>
          <a:prstGeom prst="rect">
            <a:avLst/>
          </a:prstGeom>
          <a:solidFill>
            <a:srgbClr val="0D0A18"/>
          </a:solidFill>
          <a:ln w="12700">
            <a:solidFill>
              <a:srgbClr val="3A28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371600"/>
            <a:ext cx="73152" cy="77724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锁定「根本需求」—— 不是功能，是需求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023360" cy="777240"/>
          </a:xfrm>
          <a:prstGeom prst="rect">
            <a:avLst/>
          </a:prstGeom>
          <a:solidFill>
            <a:srgbClr val="0D0A18"/>
          </a:solidFill>
          <a:ln w="12700">
            <a:solidFill>
              <a:srgbClr val="3A28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86000"/>
            <a:ext cx="73152" cy="77724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扫描历史上所有解决过这个需求的方案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跨行业、跨时代、跨技术路径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023360" cy="777240"/>
          </a:xfrm>
          <a:prstGeom prst="rect">
            <a:avLst/>
          </a:prstGeom>
          <a:solidFill>
            <a:srgbClr val="0D0A18"/>
          </a:solidFill>
          <a:ln w="12700">
            <a:solidFill>
              <a:srgbClr val="3A28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00400"/>
            <a:ext cx="73152" cy="777240"/>
          </a:xfrm>
          <a:prstGeom prst="rect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找「共同进化」规律：旧方案被替代时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替代者有什么共同特征？那就是基因密码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0515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案例说明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206240" cy="2606040"/>
          </a:xfrm>
          <a:prstGeom prst="rect">
            <a:avLst/>
          </a:prstGeom>
          <a:solidFill>
            <a:srgbClr val="0D0A18"/>
          </a:solidFill>
          <a:ln w="12700">
            <a:solidFill>
              <a:srgbClr val="3A28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463040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柯达的案例
</a:t>
            </a:r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柯达的根本需求是「记录美好时刻」，不是「胶卷」。
替代它的，不是更好的胶卷公司，是手机。
柯达的人再聪明，也想不到自己的对手是一个做通讯的。
</a:t>
            </a:r>
            <a:pPr indent="0" marL="0">
              <a:buNone/>
            </a:pPr>
            <a:r>
              <a:rPr lang="en-US" sz="1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把根本需求找对，才能画出真正的竞争地图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0D0A18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历史是最好的训练数据——从进化规律里读出「下一个形态的基因密码」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82880"/>
            <a:ext cx="640080" cy="640080"/>
          </a:xfrm>
          <a:prstGeom prst="ellipse">
            <a:avLst/>
          </a:prstGeom>
          <a:solidFill>
            <a:srgbClr val="0A0E18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全网状对话·让所有变量互相审问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621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7F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AlphaFold对应机制：注意力机制 · Transformer全局对话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六大关键变量两两对话——找隐藏矛盾和隐藏共振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8960" y="14173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9B72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竞争格局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14173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4173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技术路径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08960" y="21031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时间窗口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2103120"/>
            <a:ext cx="2651760" cy="502920"/>
          </a:xfrm>
          <a:prstGeom prst="rect">
            <a:avLst/>
          </a:prstGeom>
          <a:solidFill>
            <a:srgbClr val="0A0E18"/>
          </a:solidFill>
          <a:ln w="15240">
            <a:solidFill>
              <a:srgbClr val="9B72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2103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团队能力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必问的三对矛盾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154680"/>
            <a:ext cx="8595360" cy="457200"/>
          </a:xfrm>
          <a:prstGeom prst="rect">
            <a:avLst/>
          </a:prstGeom>
          <a:solidFill>
            <a:srgbClr val="0A0E1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546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 × 竞争格局  →  你解决的需求，是不是已经有人用更低成本在解决？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8595360" cy="457200"/>
          </a:xfrm>
          <a:prstGeom prst="rect">
            <a:avLst/>
          </a:prstGeom>
          <a:solidFill>
            <a:srgbClr val="0A0E1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7033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技术路径 × 商业模式  →  你的技术天花板，能不能支撑你的商业模型放大？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51960"/>
            <a:ext cx="8595360" cy="457200"/>
          </a:xfrm>
          <a:prstGeom prst="rect">
            <a:avLst/>
          </a:prstGeom>
          <a:solidFill>
            <a:srgbClr val="0A0E18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时间窗口 × 团队能力  →  窗口开着的时候，你们的能力能到位吗？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137160"/>
            <a:ext cx="548640" cy="548640"/>
          </a:xfrm>
          <a:prstGeom prst="ellipse">
            <a:avLst/>
          </a:prstGeom>
          <a:solidFill>
            <a:srgbClr val="110E08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37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铁律过滤·排除物理上不可能的路径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754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对应：物理化学约束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0"/>
          </a:xfrm>
          <a:prstGeom prst="line">
            <a:avLst/>
          </a:prstGeom>
          <a:noFill/>
          <a:ln w="12700">
            <a:solidFill>
              <a:srgbClr val="2E2A1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914400"/>
            <a:ext cx="4114800" cy="548640"/>
          </a:xfrm>
          <a:prstGeom prst="rect">
            <a:avLst/>
          </a:prstGeom>
          <a:solidFill>
            <a:srgbClr val="100E04"/>
          </a:solidFill>
          <a:ln w="12700">
            <a:solidFill>
              <a:srgbClr val="3A301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14400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914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现金流为负 &gt; 18个月  →  几乎必死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114800" cy="548640"/>
          </a:xfrm>
          <a:prstGeom prst="rect">
            <a:avLst/>
          </a:prstGeom>
          <a:solidFill>
            <a:srgbClr val="100E04"/>
          </a:solidFill>
          <a:ln w="12700">
            <a:solidFill>
              <a:srgbClr val="3A3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572768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727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无真实付费用户的B轮  →  十有八九是泡沫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31136"/>
            <a:ext cx="4114800" cy="548640"/>
          </a:xfrm>
          <a:prstGeom prst="rect">
            <a:avLst/>
          </a:prstGeom>
          <a:solidFill>
            <a:srgbClr val="100E04"/>
          </a:solidFill>
          <a:ln w="12700">
            <a:solidFill>
              <a:srgbClr val="3A301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231136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3113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平台型无网络效应  →  护城河为零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889504"/>
            <a:ext cx="4114800" cy="548640"/>
          </a:xfrm>
          <a:prstGeom prst="rect">
            <a:avLst/>
          </a:prstGeom>
          <a:solidFill>
            <a:srgbClr val="100E04"/>
          </a:solidFill>
          <a:ln w="12700">
            <a:solidFill>
              <a:srgbClr val="3A30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889504"/>
            <a:ext cx="54864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8950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A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打世界级资本占领的战场  →  必败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114800" cy="457200"/>
          </a:xfrm>
          <a:prstGeom prst="rect">
            <a:avLst/>
          </a:prstGeom>
          <a:solidFill>
            <a:srgbClr val="181204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84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触碰铁律的路径，自动排除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137160"/>
            <a:ext cx="0" cy="484632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37160"/>
            <a:ext cx="548640" cy="548640"/>
          </a:xfrm>
          <a:prstGeom prst="ellipse">
            <a:avLst/>
          </a:prstGeom>
          <a:solidFill>
            <a:srgbClr val="110808"/>
          </a:solidFill>
          <a:ln w="25400">
            <a:solidFill>
              <a:srgbClr val="E0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7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137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跨维度攻击·循环迭代自我否定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40680" y="4754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对应：粗糙模型→审问→修正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777240"/>
            <a:ext cx="4206240" cy="0"/>
          </a:xfrm>
          <a:prstGeom prst="line">
            <a:avLst/>
          </a:prstGeom>
          <a:noFill/>
          <a:ln w="12700">
            <a:solidFill>
              <a:srgbClr val="2E1E1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914400"/>
            <a:ext cx="4114800" cy="548640"/>
          </a:xfrm>
          <a:prstGeom prst="rect">
            <a:avLst/>
          </a:prstGeom>
          <a:solidFill>
            <a:srgbClr val="11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914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粗糙初始路径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1170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基于前三步生成第一版方向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1572768"/>
            <a:ext cx="4114800" cy="548640"/>
          </a:xfrm>
          <a:prstGeom prst="rect">
            <a:avLst/>
          </a:prstGeom>
          <a:solidFill>
            <a:srgbClr val="11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5727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跨维度质疑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18288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从完全不同的技术路径发动攻击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2231136"/>
            <a:ext cx="4114800" cy="548640"/>
          </a:xfrm>
          <a:prstGeom prst="rect">
            <a:avLst/>
          </a:prstGeom>
          <a:solidFill>
            <a:srgbClr val="11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311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找最脆弱假设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2487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哪个假设一旦被推翻，全盘崩溃？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2889504"/>
            <a:ext cx="4114800" cy="548640"/>
          </a:xfrm>
          <a:prstGeom prst="rect">
            <a:avLst/>
          </a:prstGeom>
          <a:solidFill>
            <a:srgbClr val="110808"/>
          </a:solidFill>
          <a:ln w="12700">
            <a:solidFill>
              <a:srgbClr val="3A101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8895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修正 → 再攻击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31455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直到找不到能击穿它的论据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584448"/>
            <a:ext cx="4114800" cy="457200"/>
          </a:xfrm>
          <a:prstGeom prst="rect">
            <a:avLst/>
          </a:prstGeom>
          <a:solidFill>
            <a:srgbClr val="18080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5844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循环，通常3-5轮后收敛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solidFill>
            <a:srgbClr val="0A0F0D"/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输出：具体战场 · 时间窗口 · 切入姿势 · 致命风险点 · 第一步行动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系统燃料：aichajie 案例库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AlphaFold没有训练数据，什么都做不了。我们的训练数据，就是每一个被拆解的「胜出者和幸存者案例」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3840480" cy="475488"/>
          </a:xfrm>
          <a:prstGeom prst="rect">
            <a:avLst/>
          </a:prstGeom>
          <a:solidFill>
            <a:srgbClr val="0A0A1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830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178308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6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3931920" cy="475488"/>
          </a:xfrm>
          <a:prstGeom prst="rect">
            <a:avLst/>
          </a:prstGeom>
          <a:solidFill>
            <a:srgbClr val="0A0F10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商业AlphaFold模型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3840480" cy="475488"/>
          </a:xfrm>
          <a:prstGeom prst="rect">
            <a:avLst/>
          </a:prstGeom>
          <a:solidFill>
            <a:srgbClr val="0A0A12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已知蛋白质结构数据库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37744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6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2377440"/>
            <a:ext cx="3931920" cy="475488"/>
          </a:xfrm>
          <a:prstGeom prst="rect">
            <a:avLst/>
          </a:prstGeom>
          <a:solidFill>
            <a:srgbClr val="0A0F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23774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aichajie 胜出案例库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3840480" cy="475488"/>
          </a:xfrm>
          <a:prstGeom prst="rect">
            <a:avLst/>
          </a:prstGeom>
          <a:solidFill>
            <a:srgbClr val="0A0A12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718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2亿个蛋白质结构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297180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6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37760" y="2971800"/>
            <a:ext cx="3931920" cy="475488"/>
          </a:xfrm>
          <a:prstGeom prst="rect">
            <a:avLst/>
          </a:prstGeom>
          <a:solidFill>
            <a:srgbClr val="0A0F10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9718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N个拆解完整的AI产品案例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3840480" cy="475488"/>
          </a:xfrm>
          <a:prstGeom prst="rect">
            <a:avLst/>
          </a:prstGeom>
          <a:solidFill>
            <a:srgbClr val="0A0A1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661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预测未知蛋白质结构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3566160"/>
            <a:ext cx="640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6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37760" y="3566160"/>
            <a:ext cx="3931920" cy="475488"/>
          </a:xfrm>
          <a:prstGeom prst="rect">
            <a:avLst/>
          </a:prstGeom>
          <a:solidFill>
            <a:srgbClr val="0A0F10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5661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推演最正确的行进路径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0A1412"/>
          </a:solidFill>
          <a:ln w="25400">
            <a:solidFill>
              <a:srgbClr val="4ECD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案例越多，推演越精准。这就是为什么拆解不是锦上添花——而是整个系统的燃料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我们真正在卖的，不是分析报告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制造「晕」的能力的工业化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2286000" y="2194560"/>
            <a:ext cx="4572000" cy="0"/>
          </a:xfrm>
          <a:prstGeom prst="line">
            <a:avLst/>
          </a:prstGeom>
          <a:noFill/>
          <a:ln w="12700">
            <a:solidFill>
              <a:srgbClr val="8A6F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331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让原本需要松阳本人在场才能完成的认知冲击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那张「他从来没见过的竞争地图」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E8E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变成一个可重复·可交付·可规模化的产品动作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611880"/>
            <a:ext cx="2194560" cy="1097280"/>
          </a:xfrm>
          <a:prstGeom prst="rect">
            <a:avLst/>
          </a:prstGeom>
          <a:solidFill>
            <a:srgbClr val="0F0F0F"/>
          </a:solidFill>
          <a:ln w="19050">
            <a:solidFill>
              <a:srgbClr val="9B7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8872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「晕」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被看见的开始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611880"/>
            <a:ext cx="2194560" cy="1097280"/>
          </a:xfrm>
          <a:prstGeom prst="rect">
            <a:avLst/>
          </a:prstGeom>
          <a:solidFill>
            <a:srgbClr val="0F0F0F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「信任」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5760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被信任的基础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3611880"/>
            <a:ext cx="2194560" cy="1097280"/>
          </a:xfrm>
          <a:prstGeom prst="rect">
            <a:avLst/>
          </a:prstGeom>
          <a:solidFill>
            <a:srgbClr val="0F0F0F"/>
          </a:solidFill>
          <a:ln w="19050">
            <a:solidFill>
              <a:srgbClr val="4ECD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「留住」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被留住的保障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财富 = 被看见 × 被信任 × 被留住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商业AlphaFold模型</dc:title>
  <dc:subject>PptxGenJS Presentation</dc:subject>
  <dc:creator>PptxGenJS</dc:creator>
  <cp:lastModifiedBy>PptxGenJS</cp:lastModifiedBy>
  <cp:revision>1</cp:revision>
  <dcterms:created xsi:type="dcterms:W3CDTF">2026-02-22T04:48:09Z</dcterms:created>
  <dcterms:modified xsi:type="dcterms:W3CDTF">2026-02-22T04:48:09Z</dcterms:modified>
</cp:coreProperties>
</file>